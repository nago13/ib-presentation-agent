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 Digital</c:v>
                </c:pt>
              </c:strCache>
            </c:strRef>
          </c:tx>
          <c:spPr>
            <a:solidFill>
              <a:srgbClr val="002855"/>
            </a:solidFill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1.4</c:v>
                </c:pt>
                <c:pt idx="2">
                  <c:v>2.1</c:v>
                </c:pt>
                <c:pt idx="3">
                  <c:v>3.3</c:v>
                </c:pt>
                <c:pt idx="4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73737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BEB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rgbClr val="002855"/>
            </a:solidFill>
          </c:spPr>
          <c:cat>
            <c:strRef>
              <c:f>Sheet1!$A$2:$A$7</c:f>
              <c:strCache>
                <c:ptCount val="6"/>
                <c:pt idx="0">
                  <c:v>Itaú</c:v>
                </c:pt>
                <c:pt idx="1">
                  <c:v>Nubank</c:v>
                </c:pt>
                <c:pt idx="2">
                  <c:v>Bradesco</c:v>
                </c:pt>
                <c:pt idx="3">
                  <c:v>BB</c:v>
                </c:pt>
                <c:pt idx="4">
                  <c:v>Santander</c:v>
                </c:pt>
                <c:pt idx="5">
                  <c:v>Outros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28</c:v>
                </c:pt>
                <c:pt idx="2">
                  <c:v>15</c:v>
                </c:pt>
                <c:pt idx="3">
                  <c:v>14</c:v>
                </c:pt>
                <c:pt idx="4">
                  <c:v>10</c:v>
                </c:pt>
                <c:pt idx="5">
                  <c:v>11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Produtos Mobile do Itaú Unibanco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3756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B4C8DC"/>
                </a:solidFill>
                <a:latin typeface="Calibri"/>
              </a:defRPr>
            </a:pPr>
            <a:r>
              <a:t>Análise Estratégica e Performance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87878"/>
                </a:solidFill>
                <a:latin typeface="Calibri"/>
              </a:defRPr>
            </a:pPr>
            <a: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Visão Geral do Mercado de Mobile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O mercado de mobile banking no Brasil atingiu 184 milhões de contas ativas em 2024, crescimento de 18%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Itaú lidera o ranking com 35,2 milhões de usuários ativos mensais no app (+22% vs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51176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Transações via mobile representam 72% do total de operações bancárias do Itaú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9544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NPS do app Itaú atingiu 78 pontos, 12 pontos acima da média do setor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67912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0078BE"/>
                </a:solidFill>
              </a:rPr>
              <a:t>●  </a:t>
            </a:r>
            <a:r>
              <a:rPr sz="1600">
                <a:solidFill>
                  <a:srgbClr val="373737"/>
                </a:solidFill>
                <a:latin typeface="Calibri"/>
              </a:rPr>
              <a:t>Investimento em tecnologia: R$ 3,4 bilhões em 2024 (+15% YoY)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Indicadores-Chave de Performance Mobile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464993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2464993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Usuários Ativos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09923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35,2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+22% YoY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0833" y="1783080"/>
            <a:ext cx="2464993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1783080"/>
            <a:ext cx="2464993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3713" y="205740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Transações/mês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3713" y="2514600"/>
            <a:ext cx="209923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1,8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3713" y="329184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+31%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1783080"/>
            <a:ext cx="2464993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5867" y="1783080"/>
            <a:ext cx="2464993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8747" y="205740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Receita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747" y="2514600"/>
            <a:ext cx="209923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R$ 4,2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747" y="329184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+28%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0901" y="1783080"/>
            <a:ext cx="2464993" cy="2194560"/>
          </a:xfrm>
          <a:prstGeom prst="roundRect">
            <a:avLst/>
          </a:prstGeom>
          <a:solidFill>
            <a:srgbClr val="F5F5F5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0901" y="1783080"/>
            <a:ext cx="2464993" cy="54864"/>
          </a:xfrm>
          <a:prstGeom prst="rect">
            <a:avLst/>
          </a:prstGeom>
          <a:solidFill>
            <a:srgbClr val="007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3781" y="205740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787878"/>
                </a:solidFill>
                <a:latin typeface="Calibri"/>
              </a:defRPr>
            </a:pPr>
            <a:r>
              <a:t>NPS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781" y="2514600"/>
            <a:ext cx="209923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2855"/>
                </a:solidFill>
                <a:latin typeface="Calibri"/>
              </a:defRPr>
            </a:pPr>
            <a:r>
              <a:t>78 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3781" y="3291840"/>
            <a:ext cx="209923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1E8232"/>
                </a:solidFill>
                <a:latin typeface="Calibri"/>
              </a:defRPr>
            </a:pPr>
            <a:r>
              <a:t>+8 pts YoY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Demonstração de Resultados - Segmento Digital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71600"/>
          <a:ext cx="10820095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2022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2023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 YoY</a:t>
                      </a:r>
                    </a:p>
                  </a:txBody>
                  <a:tcPr anchor="ctr" marL="91440" marR="91440" marT="45720" marB="45720"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Receita Líquida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R$ 2,1 bi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R$ 3,3 bi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R$ 4,2 bi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8232"/>
                          </a:solidFill>
                          <a:latin typeface="Calibri"/>
                        </a:defRPr>
                      </a:pPr>
                      <a:r>
                        <a:t>+27,3%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EBITDA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R$ 680 mi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R$ 1,1 bi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R$ 1,5 bi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8232"/>
                          </a:solidFill>
                          <a:latin typeface="Calibri"/>
                        </a:defRPr>
                      </a:pPr>
                      <a:r>
                        <a:t>+36,4%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Margem EBITDA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32,4%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33,3%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35,7%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8232"/>
                          </a:solidFill>
                          <a:latin typeface="Calibri"/>
                        </a:defRPr>
                      </a:pPr>
                      <a:r>
                        <a:t>+2,4 p.p.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Lucro Líquido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R$ 420 mi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R$ 710 mi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R$ 980 mi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8232"/>
                          </a:solidFill>
                          <a:latin typeface="Calibri"/>
                        </a:defRPr>
                      </a:pPr>
                      <a:r>
                        <a:t>+38,0%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CAC Digital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R$ 45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R$ 38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R$ 32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E1E1E"/>
                          </a:solidFill>
                          <a:latin typeface="Calibri"/>
                        </a:defRPr>
                      </a:pPr>
                      <a:r>
                        <a:t>-15,8%</a:t>
                      </a:r>
                    </a:p>
                  </a:txBody>
                  <a:tcPr anchor="ctr" marL="91440" marR="91440" marT="45720" marB="45720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LTV/CAC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4,2x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5,1x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73737"/>
                          </a:solidFill>
                          <a:latin typeface="Calibri"/>
                        </a:defRPr>
                      </a:pPr>
                      <a:r>
                        <a:t>6,3x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8232"/>
                          </a:solidFill>
                          <a:latin typeface="Calibri"/>
                        </a:defRPr>
                      </a:pPr>
                      <a:r>
                        <a:t>+23,5%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Evolução da Receita Digital (R$ bilhões)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43000" y="1417320"/>
          <a:ext cx="990569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Análise Competitiva - Mobile Banking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4B87"/>
                </a:solidFill>
                <a:latin typeface="Calibri"/>
              </a:defRPr>
            </a:pPr>
            <a:r>
              <a:t>Pontos Fortes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512064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Maior base de usuários entre bancos tradicionais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Plataforma de investimentos integrada (íon)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26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Super app com +200 funcionalidades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95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Parcerias com fintechs (Iti, Avenue)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120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4B87"/>
                </a:solidFill>
                <a:latin typeface="Calibri"/>
              </a:defRPr>
            </a:pPr>
            <a:r>
              <a:t>Desafios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5120640" cy="18288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Competição com Nubank (98 mi clientes)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9572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Custo de aquisição vs bancos digitais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6265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Migração de clientes legacy para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5295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0078BE"/>
                </a:solidFill>
              </a:rPr>
              <a:t>●  </a:t>
            </a:r>
            <a:r>
              <a:rPr sz="1400">
                <a:solidFill>
                  <a:srgbClr val="373737"/>
                </a:solidFill>
                <a:latin typeface="Calibri"/>
              </a:rPr>
              <a:t>Regulação Open Banking em evolução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1616" y="1234440"/>
            <a:ext cx="18288" cy="47548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"/>
            <a:ext cx="10820095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Market Share - Mobile Banking Brasil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13716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787878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43000" y="1417320"/>
          <a:ext cx="9905695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54680"/>
            <a:ext cx="12191695" cy="36576"/>
          </a:xfrm>
          <a:prstGeom prst="rect">
            <a:avLst/>
          </a:prstGeom>
          <a:solidFill>
            <a:srgbClr val="AF912D"/>
          </a:solidFill>
          <a:ln>
            <a:solidFill>
              <a:srgbClr val="AF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474720"/>
            <a:ext cx="10820095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A0B4C8"/>
                </a:solidFill>
                <a:latin typeface="Calibri"/>
              </a:defRPr>
            </a:pPr>
            <a:r>
              <a:t>Documento confidencial -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